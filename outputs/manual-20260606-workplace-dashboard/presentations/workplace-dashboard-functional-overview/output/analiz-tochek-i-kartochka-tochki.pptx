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0c5916c115408e" /><Relationship Type="http://schemas.openxmlformats.org/officeDocument/2006/relationships/extended-properties" Target="/docProps/app.xml" Id="R1fe3316fb5294aac" /><Relationship Type="http://schemas.openxmlformats.org/officeDocument/2006/relationships/officeDocument" Target="/ppt/presentation.xml" Id="R198bd2b8a43147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7ef2752b4a43c9"/>
  </p:sldMasterIdLst>
  <p:notesMasterIdLst>
    <p:notesMasterId xmlns:r="http://schemas.openxmlformats.org/officeDocument/2006/relationships" r:id="R1b9dbc763c9a4c8e"/>
  </p:notesMasterIdLst>
  <p:sldIdLst>
    <p:sldId xmlns:r="http://schemas.openxmlformats.org/officeDocument/2006/relationships" id="256" r:id="R73c8f10759a24447"/>
    <p:sldId xmlns:r="http://schemas.openxmlformats.org/officeDocument/2006/relationships" id="257" r:id="R6d87ad3f2af0420f"/>
    <p:sldId xmlns:r="http://schemas.openxmlformats.org/officeDocument/2006/relationships" id="258" r:id="Rdbe7fe0ad34e468a"/>
    <p:sldId xmlns:r="http://schemas.openxmlformats.org/officeDocument/2006/relationships" id="259" r:id="R7668f43b5790435c"/>
    <p:sldId xmlns:r="http://schemas.openxmlformats.org/officeDocument/2006/relationships" id="260" r:id="R60dbe426d9f14875"/>
    <p:sldId xmlns:r="http://schemas.openxmlformats.org/officeDocument/2006/relationships" id="261" r:id="Reabdfc536a8d488d"/>
    <p:sldId xmlns:r="http://schemas.openxmlformats.org/officeDocument/2006/relationships" id="262" r:id="R32db484ee56e4c96"/>
    <p:sldId xmlns:r="http://schemas.openxmlformats.org/officeDocument/2006/relationships" id="263" r:id="Rdd9da77f85534c1b"/>
    <p:sldId xmlns:r="http://schemas.openxmlformats.org/officeDocument/2006/relationships" id="264" r:id="R86097846a75c4e7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fe2e619a6e430d" /><Relationship Type="http://schemas.openxmlformats.org/officeDocument/2006/relationships/slideMaster" Target="/ppt/slideMasters/slideMaster1.xml" Id="R187ef2752b4a43c9" /><Relationship Type="http://schemas.openxmlformats.org/officeDocument/2006/relationships/notesMaster" Target="/ppt/notesMasters/notesMaster1.xml" Id="R1b9dbc763c9a4c8e" /><Relationship Type="http://schemas.openxmlformats.org/officeDocument/2006/relationships/presProps" Target="/ppt/presProps.xml" Id="Rbb0e8e515a0944fd" /><Relationship Type="http://schemas.openxmlformats.org/officeDocument/2006/relationships/viewProps" Target="/ppt/viewProps.xml" Id="Rb6c5249caa5649c5" /><Relationship Type="http://schemas.openxmlformats.org/officeDocument/2006/relationships/tableStyles" Target="/ppt/tableStyles.xml" Id="R85ffdb0bc0204dcd" /><Relationship Type="http://schemas.openxmlformats.org/officeDocument/2006/relationships/slide" Target="/ppt/slides/slide1.xml" Id="R73c8f10759a24447" /><Relationship Type="http://schemas.openxmlformats.org/officeDocument/2006/relationships/slide" Target="/ppt/slides/slide2.xml" Id="R6d87ad3f2af0420f" /><Relationship Type="http://schemas.openxmlformats.org/officeDocument/2006/relationships/slide" Target="/ppt/slides/slide3.xml" Id="Rdbe7fe0ad34e468a" /><Relationship Type="http://schemas.openxmlformats.org/officeDocument/2006/relationships/slide" Target="/ppt/slides/slide4.xml" Id="R7668f43b5790435c" /><Relationship Type="http://schemas.openxmlformats.org/officeDocument/2006/relationships/slide" Target="/ppt/slides/slide5.xml" Id="R60dbe426d9f14875" /><Relationship Type="http://schemas.openxmlformats.org/officeDocument/2006/relationships/slide" Target="/ppt/slides/slide6.xml" Id="Reabdfc536a8d488d" /><Relationship Type="http://schemas.openxmlformats.org/officeDocument/2006/relationships/slide" Target="/ppt/slides/slide7.xml" Id="R32db484ee56e4c96" /><Relationship Type="http://schemas.openxmlformats.org/officeDocument/2006/relationships/slide" Target="/ppt/slides/slide8.xml" Id="Rdd9da77f85534c1b" /><Relationship Type="http://schemas.openxmlformats.org/officeDocument/2006/relationships/slide" Target="/ppt/slides/slide9.xml" Id="R86097846a75c4e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ee1d575cf242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e3dae7daeb495d" /><Relationship Type="http://schemas.openxmlformats.org/officeDocument/2006/relationships/notesMaster" Target="/ppt/notesMasters/notesMaster1.xml" Id="R795eaaba63e243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5bb440cd514b22" /><Relationship Type="http://schemas.openxmlformats.org/officeDocument/2006/relationships/notesMaster" Target="/ppt/notesMasters/notesMaster1.xml" Id="R94c7ea1da1ed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963f5bac634e29" /><Relationship Type="http://schemas.openxmlformats.org/officeDocument/2006/relationships/notesMaster" Target="/ppt/notesMasters/notesMaster1.xml" Id="R7533cf5c5bc94b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c429aec94a4084" /><Relationship Type="http://schemas.openxmlformats.org/officeDocument/2006/relationships/notesMaster" Target="/ppt/notesMasters/notesMaster1.xml" Id="R0c4bf5ce2f49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a0860d532f42fd" /><Relationship Type="http://schemas.openxmlformats.org/officeDocument/2006/relationships/notesMaster" Target="/ppt/notesMasters/notesMaster1.xml" Id="Rce9d51c5edee4b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a7ee17764c462a" /><Relationship Type="http://schemas.openxmlformats.org/officeDocument/2006/relationships/notesMaster" Target="/ppt/notesMasters/notesMaster1.xml" Id="R527233155a9a42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8cdc7891f4afa" /><Relationship Type="http://schemas.openxmlformats.org/officeDocument/2006/relationships/notesMaster" Target="/ppt/notesMasters/notesMaster1.xml" Id="Rc10c5da4cffa4f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ec92a85d13456e" /><Relationship Type="http://schemas.openxmlformats.org/officeDocument/2006/relationships/notesMaster" Target="/ppt/notesMasters/notesMaster1.xml" Id="R279db98ce33948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2218634e144b62" /><Relationship Type="http://schemas.openxmlformats.org/officeDocument/2006/relationships/notesMaster" Target="/ppt/notesMasters/notesMaster1.xml" Id="R2c251a999ec1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3bd3b39d0f4c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3c085bee1c4eee" /><Relationship Type="http://schemas.openxmlformats.org/officeDocument/2006/relationships/slideLayout" Target="/ppt/slideLayouts/slideLayout1.xml" Id="Rfb3e1c2b7ece49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3e1c2b7ece49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9269f6a0b414f" /><Relationship Type="http://schemas.openxmlformats.org/officeDocument/2006/relationships/notesSlide" Target="/ppt/notesSlides/notesSlide1.xml" Id="Rda0a7b4962534b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8c949093f4a25" /><Relationship Type="http://schemas.openxmlformats.org/officeDocument/2006/relationships/notesSlide" Target="/ppt/notesSlides/notesSlide2.xml" Id="R8dcab7f4375f4b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8b22fa2ba649dd" /><Relationship Type="http://schemas.openxmlformats.org/officeDocument/2006/relationships/notesSlide" Target="/ppt/notesSlides/notesSlide3.xml" Id="Rceebbef1947245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0bcb10ad64ccd" /><Relationship Type="http://schemas.openxmlformats.org/officeDocument/2006/relationships/notesSlide" Target="/ppt/notesSlides/notesSlide4.xml" Id="Rba483b4a165249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5d5eafdf8488d" /><Relationship Type="http://schemas.openxmlformats.org/officeDocument/2006/relationships/notesSlide" Target="/ppt/notesSlides/notesSlide5.xml" Id="Rd3e2a4dc72c2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c2729c400449e6" /><Relationship Type="http://schemas.openxmlformats.org/officeDocument/2006/relationships/notesSlide" Target="/ppt/notesSlides/notesSlide6.xml" Id="Re8eee4304cd4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9eb349df241d7" /><Relationship Type="http://schemas.openxmlformats.org/officeDocument/2006/relationships/notesSlide" Target="/ppt/notesSlides/notesSlide7.xml" Id="R8e934525ae0043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77eb892e44d67" /><Relationship Type="http://schemas.openxmlformats.org/officeDocument/2006/relationships/notesSlide" Target="/ppt/notesSlides/notesSlide8.xml" Id="R8b18e8be17064a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3baa0dab3440b" /><Relationship Type="http://schemas.openxmlformats.org/officeDocument/2006/relationships/notesSlide" Target="/ppt/notesSlides/notesSlide9.xml" Id="R5472a450ccc44c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51A1E-2C92-4C46-A377-E74CCAA2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03434D2-C8FC-41C9-93BE-6CDF49CA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E348513-FF6A-4250-B7FA-787E0F3E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ФУНКЦИОНАЛ ДАШБОРДА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99FF1F-FBE1-4BC7-BF3B-0120E360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096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«Анализ точек» ведёт от общего риска к конкретному дню и смене.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C4898-C671-4153-9942-84D3C222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57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Презентация объясняет, как читать основной дашборд, зачем открывать карточку точки и что показывает детализация дня.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05AC7-0F4C-4DDD-B175-4D5F48B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4C01D-9DBF-403C-8F5F-240587C8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45D630-A864-402B-A731-9956003E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09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Ранжировать точки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1E899-C80E-4562-A911-53BE93A8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заказ, SLA, стабильность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6D2743-33B8-4AD9-A27F-85EE75C0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55F40-03B6-4836-BEA8-707D1752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62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E7437-0A78-42F3-A194-ED1F2EFE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38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9050">
            <a:solidFill>
              <a:srgbClr val="B981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979AB-A54D-468F-ADD3-8099D0D2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00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812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9812C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4FEFB-F48B-4756-8646-3339949D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9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Найти 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B2FCA-A9C6-49B4-8F40-B63B2C01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7909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незакрытый заказ на 7 дней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2A7E5-4EA6-47F2-BA33-CA3B57C9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10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43D488-F08B-4E10-B19F-DDDE0EF8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762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A4565-2A9D-47B7-AF2C-69A3D267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38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130AF-5B15-4004-81E7-D34D7F958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0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F98D81-F9F9-4D80-A82C-087C973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Открыть точку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EBA33-94F2-47AD-8A31-295FBF7E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909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паспорт, спрос, факт, база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0B4836-146E-43DF-9839-FD4A00B0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C10363-A457-408A-8471-496CFAF5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62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01AC4-ACE5-4E64-889F-D0A8A9FC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38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798AC-FEF2-432A-9053-6F877CC0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0425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5137ED-85CA-4378-82DA-A5370138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099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Разобрать день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D672A5-421E-4EB4-BB4D-215E7DE5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7909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смены, отказы, выплаты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DA42FE-8C06-4421-B317-3C6C65F1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4DE26-BF35-4B61-8ED9-E0F31F69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C20594-AEC5-4732-B510-3CE73149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Ключевой принцип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BE147E-BFA4-4C1B-AA39-DBA58D3B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план ≠ факт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80BA66-AA5E-4738-9A18-9190745E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2686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заказ из mg_orders, исполнение из mg_jobs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36BA1-DA1C-426F-BF85-E25FEDB8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67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A89B07-349E-445D-9A6D-CDA1DA8C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67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951106-C4BE-4AE7-AA53-E2AE3654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Фокус менеджера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E3F5C7-C9A1-4F26-A182-E14B9B63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721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7 дней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6F310E-CB43-4EA0-8CCD-EB9D43E5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2686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ближайшие незакрытые смены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84FE17-F02A-4A07-9ED6-D98D2ED7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295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8461A2-271F-4073-974D-F0136F2F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B064A0-1CA1-4868-BAB6-7A6999E0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181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Глубина разбора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6CCFA8-406B-4741-9205-2806FDD6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37210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до строки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FB6986-8B5E-48D8-936D-F35E27B9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676900"/>
            <a:ext cx="26860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заказ, смена, исполнитель, платёж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CCA6D9-8FE7-4BDF-A564-652B8E3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7B04B3-9896-4007-AE7F-E0E20D58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46905E-ABD0-4C2C-B7C5-853241F1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169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28F242-D7FE-4625-8758-701946ED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DADC136-D5A2-4F9E-B639-B628483F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356B88-E442-4244-9BAF-52CB9936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 И СВЯЗИ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0F625-60A0-4AA6-8116-E9C1E6B3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28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Логика экрана держится на разделении спроса, факта, истории, базы и выплат.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C7BD1-FE55-4E66-8E45-CEA4B70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2F6B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6B2D7-7C03-485F-8F55-B2BE4FA1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6B9E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6B9E"/>
                </a:solidFill>
                <a:latin typeface="Aptos Mono"/>
                <a:ea typeface="Aptos Mono"/>
                <a:cs typeface="Aptos Mono"/>
              </a:rPr>
              <a:t>mg_orders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F443F-A9B8-46D9-BB17-8DC3B728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336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плановый заказ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amount, start, workplace,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0C7DB-43FD-421E-9036-FED2ACA3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3362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2F7D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8A19F-CB04-4DED-B7F7-BBFEB0D3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mg_jobs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F5D7EB-B4DC-485A-B54B-C45F0835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336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смены и факт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source, status, worker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9768E6-FC45-41B7-9646-43A74760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33625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B981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EC67E-5F73-480D-92D1-27374A81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57450"/>
            <a:ext cx="1600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812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B9812C"/>
                </a:solidFill>
                <a:latin typeface="Aptos Mono"/>
                <a:ea typeface="Aptos Mono"/>
                <a:cs typeface="Aptos Mono"/>
              </a:rPr>
              <a:t>mg_job_history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15C24-99A1-4BB5-B536-879C16B5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1600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события статусов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booked, cancelled, failed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C993-7490-4791-8534-C204C38E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333625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7663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06FE2-6BE3-44A7-9117-C7DC83FC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574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6639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76639B"/>
                </a:solidFill>
                <a:latin typeface="Aptos Mono"/>
                <a:ea typeface="Aptos Mono"/>
                <a:cs typeface="Aptos Mono"/>
              </a:rPr>
              <a:t>mg_payments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AA2E5-2647-4024-BBF4-3DC28D8B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33675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признак выплат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done, bank_done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83BD8-DD02-432F-8E9B-FF57668B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171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1E25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8BE72C-7AFD-42AB-BD65-4853881E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95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rPr>
              <a:t>mg_workplaces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FEFA3-8943-4F9D-BBC0-D8002DF7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паспорт точки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адрес, клиент, координаты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C51AE5-0A93-46BA-9930-642821A0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719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1E25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94B13-E20A-439E-AFC4-8D6F2ABC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29577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rPr>
              <a:t>mg_workers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60431-4852-4745-A9E3-9F3FD3F0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57200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исполнители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статус, координаты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DAEBD-BF63-49B8-9A31-63167FB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71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1E25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467C8C-D170-40E4-85B6-1974A866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95775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E252D"/>
                </a:solidFill>
                <a:latin typeface="Aptos Mono"/>
                <a:ea typeface="Aptos Mono"/>
                <a:cs typeface="Aptos Mono"/>
              </a:rPr>
              <a:t>appmetrica_sessions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E115D-AD03-4BDC-A471-6F8335A6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активность</a:t>
            </a:r>
          </a:p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сессии за 30 дней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79DDF-F214-4922-99AC-7F25EE22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2552D7-AFF8-4C6A-859A-F054010B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95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757EE0-2ADA-40B4-94DE-9B75EE84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669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source = _id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01129-462C-466F-BCEB-272D4A5A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43200"/>
            <a:ext cx="742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F907DA-6DA8-4DBD-99F4-CB4187A1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95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84F23F-5E9F-40A7-9597-BE1D32A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342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job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EB86E2-4C14-4F9C-816F-284CE9AD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1C4A5-4532-4122-ACA6-7C2A4CB9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955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E626BC-8208-489C-85A2-6F71920A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66975"/>
            <a:ext cx="70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job/entityId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18F457-70F4-4C59-A84C-87433F8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572000"/>
            <a:ext cx="695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A65AA5-91E1-46AB-89A8-D44AD465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D1CA0F-9838-4BED-9CA2-50C854B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72000"/>
            <a:ext cx="6000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BFBBDB-D9A7-4017-99BA-27E6DC89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5243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CD14E3-0A5D-4598-A0D8-D71E3BF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53050"/>
            <a:ext cx="10325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03ACB0-438A-400E-A8FB-3654F93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05450"/>
            <a:ext cx="962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В аналитике используется слой mg_*: он типизирован под ClickHouse. mygig_* трактуется как сырой слой и не является источником по умолчанию.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8BDBB9-0ABE-446E-99EB-C8B88E72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B5D927-907D-435B-9831-C4796A4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docs/mygig-etl-data-context.md, docs/dashboards/workplace-analysis.md, docs/dashboards/workplace-point.md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E94CE1-60D0-4E50-901B-C8806F0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42246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016CB6-3E66-47B3-B5C5-3C89C018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0BEF92F-544B-46E6-818C-4790B032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AC29AEB-96C7-469A-B92B-A10F5A1B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ОСНОВНОЙ ЭКРАН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5BFA6-1FC4-4C35-ABC5-9945BE09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695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«Анализ точек» отвечает, какие рабочие места важнее проверить первыми.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F2B87-F54B-40C3-A5BF-B5A52A49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Экран ранжирует точки по объёму планового заказа, SLA выполнения и стабильности заказов в выбранном периоде.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A536B-7E90-4ABC-A87D-16F3C04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76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0EE7CD-2BA7-463E-8934-293577A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8763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1C027C-FC84-4FCF-91DB-F452D57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9906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Плановый заказ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54344-7AEC-4C10-8F80-15DCAF1F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1811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totalOrderedShifts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7144E-A9A5-4B17-9845-F53887FB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85900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sum(mg_orders.amount)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AA2A4-EA63-46A0-A4B0-F46EF473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815350-9E63-4C69-A291-31F6341B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A18EF-E096-49C1-92E8-7BE3DCD0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3835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SLA выполнения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7D508-A181-4918-8E11-CF1BBD87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885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slaPercent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FB093-74B2-4846-B37E-57BBBE11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успешные confirmed / SLA-заказ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70B81-5D25-49DD-B87A-74434343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9E240-078F-4653-A828-27AC07DC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718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6C1A71-5172-4CC0-B1C5-1578BBD6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86100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Стабильность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100A8-BF1D-4462-9107-0CF2482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76600"/>
            <a:ext cx="2590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stabilityPercent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79A98-31A5-43FB-815F-5167D28B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581400"/>
            <a:ext cx="2590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дни с заказом / дни периода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C8BC6-F679-47E7-A396-4EE0B509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70485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5DD44-13FE-4EC9-9205-9F1DFB56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908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18316-27C1-4C84-B60B-8AEEC603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B964B2-14D1-4BC6-A419-4E4E5C30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908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4BEF95-6DDB-4513-9E6B-75AA3B55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95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021AB3-CED5-490D-ADEC-CF81CA9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E3D62B-1687-48AC-8EC7-34B4CB43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209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Бренд /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D9042F-3284-4266-A543-3793C93E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48000"/>
            <a:ext cx="1162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Город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59DBE6-9EF2-41CC-B248-8766F41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Заказ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A1281-0CBB-41E0-B601-871312AA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048000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SLA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219E2D-67FD-4F76-A8A8-273DABE9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971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Стаб.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A407CE-320C-43AA-B87E-96020E76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92E7FF-5F4C-44F5-9D5D-7A77A248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2209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Северный хаб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A7DA3A-4C0D-489B-B12A-803B4013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476625"/>
            <a:ext cx="1162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Москва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DB3841-B736-4746-8BB5-0365CBC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76625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1 240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55FC85-66F9-4ADD-AACD-FA4775C2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476625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87%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743E06-9564-4AC8-B9D6-3408CDBA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971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72%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A19F3E-6DE4-4653-A25F-1AFBD0C8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13479D-DAF0-43B5-9F65-AC09474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2209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Южная точка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516053-685D-4117-AA86-7A78A031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05250"/>
            <a:ext cx="1162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Казань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9E22C2-8A4C-4745-8DE4-D9B49CAF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05250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940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E464C5-694F-465C-B473-72F8E45C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3905250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1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812C"/>
                </a:solidFill>
                <a:latin typeface="Aptos"/>
                <a:ea typeface="Aptos"/>
                <a:cs typeface="Aptos"/>
              </a:rPr>
              <a:t>51%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E9E465-4C9A-49FA-A151-EB5CB8A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971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58%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05659AE-50AA-40E2-B69D-6D95E924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C02923-D7A0-43DB-93F5-5EFFF8E3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209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ТЦ Восток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FF0826-051E-4A02-82BB-5483ED9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333875"/>
            <a:ext cx="1162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СПб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4C02CD-0696-4365-96AD-682B18B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33875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720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D8ECC78-7BC5-4A8D-ACD8-4251A708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4333875"/>
            <a:ext cx="9239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B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B42"/>
                </a:solidFill>
                <a:latin typeface="Aptos"/>
                <a:ea typeface="Aptos"/>
                <a:cs typeface="Aptos"/>
              </a:rPr>
              <a:t>39%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E01C4C-CD3A-4403-9FA3-6B3968D9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33875"/>
            <a:ext cx="9715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40%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C93757-4FF9-4CC6-8BF0-FB08D8D4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7DCB08-51CF-4AF2-A95C-A578E4A6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96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Сортировка: заказ / SLA / активные дни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D7E69A8-F0FE-452E-9E71-D25A541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972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4C3CD5-4594-4EE9-A793-5DD756E1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19675"/>
            <a:ext cx="2762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Pinned-точки сравниваются тем же расчётом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B6588C-22E5-4243-AD17-0DE67B8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E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73AC603-212A-406A-A8C0-E4664DB8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Переход в карточку по workplaceId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27CD018-627F-4561-BAAD-F93C606F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A8D2E9-86AA-435C-A126-1C8B8DB0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F381FB-18C2-47C7-97AB-AEA60B2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65145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9365EA-67F8-45C4-869D-0EE3D053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283F037-F061-4ACC-902C-7E7DAB0D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FB3F56-CD7F-4697-A2C5-67347A7B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ФИЛЬТРЫ И СРАВНИМОСТЬ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C677F-F114-4CEE-942B-DBDD04B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47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Фильтры задают честную группу сравнения, а не меняют смысл метрик.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95CC1-8C32-4F85-A098-48FC94E89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2F6B9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0EBF9-86CA-4A75-B2D4-9A13070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Срез бизнеса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E616FF-2D12-451D-8B39-6FCC6761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C7C45-C9B7-4B7F-AA07-EEAF9C38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клиенты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5A10C-A381-492D-AF43-573E3DE4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813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6E3A6-864D-443F-8945-0239F8E6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города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3332E-9F24-4F06-9BD4-FE1089B1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CF07D-7A3E-4A45-AEC5-5A1EC591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регионы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3F02C1-6CB3-43C2-8273-AF2244CF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89D2D-2EFE-444D-BB04-988CDB80A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29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контрагенты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783392-3856-4876-8BDF-42DB2E80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907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2F7D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AA216-3BDA-445C-A06D-6175D966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622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Срез заказа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C4BEE-A285-4B25-AB40-235BC29E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F9309D-908C-44DA-8C52-C7DF783E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профессии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498EDB-F78D-45C7-B45B-66B71A4A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9F6C69-588D-407F-AF41-E08F2C6C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типы заказов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6697B-7FEE-49D4-A9F7-9A486241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814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DD246-25E4-4A6E-8865-9C8A550D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290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статусы смен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F14CC9-7616-4E5C-9D22-6258CE5A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814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6F5DB2-A645-4218-B45A-F5C6967D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29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период по o.start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EE4A4-FFFB-4592-919A-67CBE96C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B9812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90167-2AB2-4305-BC74-DCBA9A75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62200"/>
            <a:ext cx="2228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81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812C"/>
                </a:solidFill>
                <a:latin typeface="Aptos"/>
                <a:ea typeface="Aptos"/>
                <a:cs typeface="Aptos"/>
              </a:rPr>
              <a:t>Срез качества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C223D0-EDAA-4348-8AC1-10E01539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BBFFF2-EAAB-4AE2-AE45-0809901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289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SLA от/до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C22BCE-A0C3-41A0-BBF2-DCB793C3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6E4D21-A566-4F83-ADD1-26CBDC0E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289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заказ от/до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31846C-76C1-4B3A-9D0A-6C64E0DF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AF4AB1-CC24-4D7D-A267-9F805544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2902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стабильность от/до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520428-12DF-42AB-96F5-A8D83F26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47FAB0-6AFA-40EC-BCC3-AA7329F0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29075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скрытые/удалённые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034A93-F804-45FC-806B-A4542F2C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000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3335">
            <a:solidFill>
              <a:srgbClr val="7663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7C9B1B-BE1F-4580-81AA-7955CC3F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6220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63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6639B"/>
                </a:solidFill>
                <a:latin typeface="Aptos"/>
                <a:ea typeface="Aptos"/>
                <a:cs typeface="Aptos"/>
              </a:rPr>
              <a:t>Навигация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DE2816-A3AF-4A5B-A1C7-0B747766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813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53276A-3F84-49E2-AF1C-51861DFE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2892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поиск по точке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833C7C-A737-4E1E-9A97-F571E778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813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9136FF-1B9C-4823-84E7-7BD00394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289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пагинация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063EA77-868B-43A2-BF8E-D4112726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814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AC9B9B-9B3C-4521-9D06-D7B079DD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2902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pinned ids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EA9095-3FA7-4829-AB99-44DCD0D7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814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9616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BDB2CF-2485-46B8-B457-6874D394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029075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drill-down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29F54D-DC13-41DE-8275-BACB8998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9753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21ADAA-267A-4BCE-AE6E-038746CB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9258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Базовое условие всегда остаётся операционным: заказы точки за период, с положительным amount и валидной связью workplace. Статусы смен фильтруются через параметризованный подзапрос, пользовательский произвольный SQL в UI не добавляется.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446180-0D49-4322-95D7-6F7F0E43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3628B3-716C-47A6-BDCA-A662BDCC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E93ED8C-BBCD-4FA9-8AC2-AB5CE18F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845347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790E49-B3AD-4F69-9C5E-5CA4C612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46E0A90-CDB2-4E28-B370-501D1A2D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DC4F08-B476-4148-BB0A-00E5C996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ПОДВКЛАДКА «ТРЕБУЮТ ВНИМАНИЯ»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1B8139-6799-4C32-8975-6215207E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667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Риск считается из ближайших 7 дней и показывает, где заказ может остаться незакрытым.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07538-CAD5-471E-B80B-2CD4A4B5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A129D-ADFB-4E3F-A064-FC5328E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1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F72E-F139-4E30-889D-93C204A7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6217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Окно риска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A42B8-6A91-44CE-9D2A-CDAC6A5E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сегодня + 7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29A3F-E321-4FF4-8E78-FD41FC2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фиксированный период относительно текущей даты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329BE-68A6-46D8-B0CA-EA2B857D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6EE88-BD03-4376-8451-50A705F2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5276F9-4E5C-4645-865D-D5C7BAE4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6217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Активная база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68D7C-C341-4BAF-9663-29176810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52675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30 дней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45D85-284A-491A-B677-CB015A9B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57475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AppMetrica-сессии в радиусе 15 км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50890-FF07-422A-965A-4D551028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47875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3CB36-7FB6-41B2-AEE7-E3DA3DD2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47875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D5F55-54F5-4BBB-922E-1123A7D0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2114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Незакрытый заказ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41326-390F-4E70-B6EE-899EBD856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52675"/>
            <a:ext cx="2114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free7d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8E70D-257E-4BCA-85B3-A91B8783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57475"/>
            <a:ext cx="21145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план минус закрывающие статусы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6CF78-E397-4D6E-A77B-068E92D4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74485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32176A-4F1A-4340-BEE8-DCA4591B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95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A84FA6-96D4-4F0A-A2E2-6B5E64D3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333750"/>
            <a:ext cx="952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B76A0-2590-4EEC-BC68-76463B51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94BD1-AE94-4F80-AFDA-3D552F4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Сигнал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818092-E1A3-4B29-8B02-5A51D6A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77190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Что означает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ABF57C-34DF-4E61-90A2-BE0573CF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71900"/>
            <a:ext cx="2562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Как влияет на риск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BA546F-ED83-45C8-96B4-DE00C3A2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3B56B1-4543-4C53-89E3-1D371138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B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B42"/>
                </a:solidFill>
                <a:latin typeface="Aptos"/>
                <a:ea typeface="Aptos"/>
                <a:cs typeface="Aptos"/>
              </a:rPr>
              <a:t>free7d &gt; 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B99023-A2F1-41CE-A4A9-E50046E2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2910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есть свободные смены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8BD350-B13D-4E4C-9BBF-D2D265CF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229100"/>
            <a:ext cx="2562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точка попадает в очередь внимания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9B86DC-2376-4DF6-B8DA-6B8C26CE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45633D-5E49-4EDC-BAE0-F48D63271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1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812C"/>
                </a:solidFill>
                <a:latin typeface="Aptos"/>
                <a:ea typeface="Aptos"/>
                <a:cs typeface="Aptos"/>
              </a:rPr>
              <a:t>coveragePercent низкий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BB38E-3F77-4824-919C-B39DC43D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8630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закрыто мало заказа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39DC41-3CC8-4C2D-BA29-DE876551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686300"/>
            <a:ext cx="2562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усиливает уровень риска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01889-65EF-48C8-968F-D19EC2DA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3EB6EB-40A2-4868-B49D-F85CC5C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1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812C"/>
                </a:solidFill>
                <a:latin typeface="Aptos"/>
                <a:ea typeface="Aptos"/>
                <a:cs typeface="Aptos"/>
              </a:rPr>
              <a:t>activeWorkersPerFreeShift мал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EC0917-7506-4DEB-91AD-9E51A580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14350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мало активной базы на смену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A60678-686C-4CF7-8AA2-AA2C45F6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143500"/>
            <a:ext cx="2562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подсвечивает дефицит предложения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642B7E-5FCF-45FD-9F01-0944A5F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7448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BAB392-A9B5-4812-B9A5-27BF296C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B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B42"/>
                </a:solidFill>
                <a:latin typeface="Aptos"/>
                <a:ea typeface="Aptos"/>
                <a:cs typeface="Aptos"/>
              </a:rPr>
              <a:t>maxDailyFree высокий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1E087B-CAB4-4321-8113-979D00C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00700"/>
            <a:ext cx="25431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есть пик незакрытого спроса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D21DB1-6A6B-4739-A72E-8F3233F9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600700"/>
            <a:ext cx="25622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приоритизирует конкретный день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039461-C950-41DC-9CB7-80D43014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47875"/>
            <a:ext cx="27241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52D"/>
          </a:solidFill>
          <a:ln xmlns:a="http://schemas.openxmlformats.org/drawingml/2006/main" w="9525">
            <a:solidFill>
              <a:srgbClr val="1E252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728AFA2-5167-4046-A59B-4D5668F1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050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Логика уровней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F777E4-7567-4C74-9C55-6EC7D005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1940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D3C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D3CC"/>
                </a:solidFill>
                <a:latin typeface="Aptos"/>
                <a:ea typeface="Aptos"/>
                <a:cs typeface="Aptos"/>
              </a:rPr>
              <a:t>Высокий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16E87B-88B9-4D5C-83AF-06D16786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190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FE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EFE6"/>
                </a:solidFill>
                <a:latin typeface="Aptos"/>
                <a:ea typeface="Aptos"/>
                <a:cs typeface="Aptos"/>
              </a:rPr>
              <a:t>много свободного заказа, низкое покрытие или недостаточная активная база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5A1C8A-E7CB-4225-A257-44DD8AD9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71875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2A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2AA"/>
                </a:solidFill>
                <a:latin typeface="Aptos"/>
                <a:ea typeface="Aptos"/>
                <a:cs typeface="Aptos"/>
              </a:rPr>
              <a:t>Средний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CD5D63B-F56B-424A-A8E8-3F5D77D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33775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FE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EFE6"/>
                </a:solidFill>
                <a:latin typeface="Aptos"/>
                <a:ea typeface="Aptos"/>
                <a:cs typeface="Aptos"/>
              </a:rPr>
              <a:t>риск есть, но дефицит не критический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575CC5-380C-4D03-922D-016F6833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48150"/>
            <a:ext cx="809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FEAD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FEAD6"/>
                </a:solidFill>
                <a:latin typeface="Aptos"/>
                <a:ea typeface="Aptos"/>
                <a:cs typeface="Aptos"/>
              </a:rPr>
              <a:t>Низкий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82A79D-F109-4296-9F5E-14847CA6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190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6EFE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6EFE6"/>
                </a:solidFill>
                <a:latin typeface="Aptos"/>
                <a:ea typeface="Aptos"/>
                <a:cs typeface="Aptos"/>
              </a:rPr>
              <a:t>закрытие заказа выглядит устойчивым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F84EFD0-BF57-425F-A527-32913E04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23ADE4-E3E9-49D4-88FE-11F720BF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3FC751-A4C4-45DF-9F8B-B03EC2E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126245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655F3-F636-43B6-AE4C-8B77944B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5910E68-A47E-4845-BB8F-2A28BE20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075647-CD16-4A1E-B834-85EFD64B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КАРТОЧКА ТОЧКИ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DB97F-BAFB-4FEF-93F0-57E48CBA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763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Карточка превращает строку рейтинга в паспорт, динамику и локальную базу исполнителей.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9FB38-C2DE-4BDF-B1C3-96D5AAA6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572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1FF4F-01D5-49DA-ABAA-0C187BD3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886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E4200-B820-49C3-86E6-1727C4C5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Паспорт точки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5B726-644D-4BB8-AB5A-A29DD3A5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28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название, technical_name, клиент, город, регион, улица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548299-8289-49F7-9C35-FC0099E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02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1017AB-DB11-4C93-A999-49A206E6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4790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workplaceId обязателен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F6731-33E4-448A-9F6A-842CDBB7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741DB-6197-44B7-80F4-F2741A1A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DAD4DF-1F1D-48DA-B43F-A77D127D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1685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Заказ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C7EC8E-12FF-4406-866A-3CD44DA4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orderedShifts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7842FF-50EE-4978-8830-FF8221E7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68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сумма amount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B4FB40-7095-4F81-96F3-5569DD3C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3370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A8BB0-1B0B-45F3-9E7C-B20A4D62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337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46871-D1A1-4458-98A2-A6F1F4F2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48000"/>
            <a:ext cx="1685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Факт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40E86B-F98D-4114-BD27-8E905536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385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completedShifts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77983-17FC-4362-9688-39DF6AEC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543300"/>
            <a:ext cx="168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успешные confirmed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431A3E-8DCC-448F-97D7-2233BE40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B9FFB4-37AA-40CE-B113-40122C11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97D3D2-ADC6-4C82-95AE-E29CBE74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1685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Отвалы 24ч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62C30E-10C5-4CED-9F9E-62CAAFAE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385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dropoffs24h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50721-F21B-4E7E-8588-73D5BCB2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168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cancelled/failed перед стартом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2C6C4-6BD3-4556-B18E-0CD850E2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26550-1C8D-4FFC-A7F9-6D9F2A40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33700"/>
            <a:ext cx="38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639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EBB370-DCD9-41AF-8F3E-796FCBA9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685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Исполнители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CBC9D-7955-416C-AA42-1C8FAA1E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38500"/>
            <a:ext cx="16859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unique*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3F9B9-0C57-4B11-95FB-E7FCE167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16859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booked и 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69EC39-25F7-4543-B1A8-C710DD67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43E889-CFB0-40F9-8E89-8315832D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29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Спрос и факт по дням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5223CF-9BB0-4B18-A8B1-583DB108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57725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ordered_shifts, completed_shifts, dropoffs_24h, lead time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257248-0CF2-4190-8BB9-EED36743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91000"/>
            <a:ext cx="2895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EA7F85-E79C-4506-BD9F-ACD7F624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52925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Распределение профессий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678CFC-8454-42D9-B811-5D1E545F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577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доля каждой специальности от спроса точки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3915D5-132E-4622-955D-4A550FA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9100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E70392-AD9E-4F1D-8383-B9D54B6A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52925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База в радиусах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DDFE06-3F30-40EC-BEA1-35794282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57725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5 / 10 / 15 / 20 км, всего и активные за 30 дней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7B789A-E1DA-4660-B3F7-3F98DE06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275FD4-880F-4F74-8D21-18F4F5E7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F5DBE4-E243-4B14-A691-7E47413C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292512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2202EF-3CD9-460D-B850-342EB8AE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B9EC22-32FA-4E96-8E85-07EB257D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6F046C7-F82F-44BA-92C9-C57F5444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ДНЕВНАЯ ДИАГНОСТИКА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4DD9B-17A9-480B-9E3F-5635F3D3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858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Календарь и дневные ряды показывают, в какой день проблема становится операционной.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54571-429B-4DF5-AEB9-280B83EB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40957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F8F8B-11A4-4130-A8FD-DC6D5467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Календарь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B304E-0B14-4253-88F5-FAFFAC9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2150B-F6DF-455B-9227-A9BD1E8B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A4481-A951-4B61-84CA-C8E4644A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93D5E-3B9A-4440-8C9A-422E031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E430C-38FC-4BF5-99FF-BC740723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E31132-FFB7-413D-9126-BFA1334D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5B535-2032-42CF-9476-6FD9A161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D1307-783D-49E3-9A59-DFADE2A6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75323-952A-4280-8A60-9E7877B0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A9684-B63C-442B-8C1F-39603C96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15CA7-EB03-4B3D-A261-202E8078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0B099-A25B-4133-AF81-3AC7943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ED0273-1401-4D12-981C-800BF6C0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241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B1B11-E44C-449C-94F3-00420FF4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03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4D80A-CD37-4BD3-A20C-934518F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D2363-C8EF-4F55-A357-3EA5CB9D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7E8C78-C8C7-46AD-8D2D-C38C178C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A6A8D-6776-4E13-A4EB-1AD2B319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D23D22-4A61-40B6-AB3A-03DE17B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BF9512-965A-40B5-8294-98E70E6E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696F92-396A-45C1-B77A-8C571365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80052A-DC7E-4AF1-B426-A9E2E939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0911FA-1725-4478-BFF3-33AB0C48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085424-4BEE-4DB3-91F0-26DE8E46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8DE46A-63B0-44B8-94D0-9BCEDD1F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3F3A01-57FF-407D-BF87-21ADB42D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D4AF70-A45F-4CBD-BD98-3F9227BC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C11702-2D19-4DF9-BEBD-3FAC558E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004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FA3CD2-C82C-4395-884C-EFA1D914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8B71B-CEC4-4BF2-96DF-C1B7F0C9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8C320D-981F-43DD-8E67-E87D65AB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B1F99F-CBFB-4471-84E5-5CD7EEA4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20BDBC-688A-41E0-BED6-59169ACE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C1BB92-A947-4950-9A04-8A9619C3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14A854-7A03-4A64-A2FC-F31BB08A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973071-70E2-4267-A733-4B7446C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5EABF2-4A0C-431B-8185-957FF0A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A72E04-E1B9-4693-AEFF-E2F1E96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59A4EF-FA1D-4271-8BEA-79BDA8FB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34D8DA-DB73-4FC5-96D5-AFC68B4B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8C7F10-5552-4327-B6C0-BF97DE12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2425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94CEF1-03C8-47E3-B9C4-5CAC6F7C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0045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6930C4-9A51-4E76-ACDB-D5CA9970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3113B0-626A-40A3-8AE8-DF733EC6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4006A5-BC0D-4A2A-A3AC-97F881AF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C7AD2C-8638-4611-A28F-D993FB1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F3CF43-4510-4960-966A-C5369C6E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8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DFE91E-12B9-44AA-B792-42A57740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9A12CF5-2D21-4A45-8743-223720B3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4B4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3B9AEA-DED4-4B1B-8D51-F5F671D5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55D81F-5526-4800-BCAE-AC2E228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C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3D0CAA-9AA0-422B-9921-DBB4A99D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E390D9B-35A6-474D-8C0D-85036D0C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8D37F83-C523-423B-ACC3-837DC3B2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0FCDCE-A11B-449C-92BB-303002AA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243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6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3BAC90-44CA-47FF-8728-16545C73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342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20242A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49D831F-F779-4A70-ADF3-52435661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3333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Высокий риск: SLA ниже 50% или отвал за 24 часа. Средний: SLA ниже 80%. Остальные дни считаются низким риском.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AF6CDF-D7DE-44A6-9528-10A2BB4D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00250"/>
            <a:ext cx="596265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8266F40-2BFF-439E-8BB5-61640FC4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38375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Дневной спрос против факта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03FB3F-C698-41E1-9CA0-C1671384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86150"/>
            <a:ext cx="2095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10EAF5-9AD8-4B73-81EB-D17BDA61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638550"/>
            <a:ext cx="209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0C98FA7-8A43-447A-99D4-3A1E856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57550"/>
            <a:ext cx="209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AE32F5-F821-42B0-AA2F-919D2728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52800"/>
            <a:ext cx="2095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74CD2B6-50F8-4B9C-9F7C-589BF0171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90900"/>
            <a:ext cx="209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86928F-F050-4AC3-ACC9-05018B4D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505200"/>
            <a:ext cx="209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982C697-6C40-47A1-9F69-7778C9BE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67050"/>
            <a:ext cx="2095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AAC4E47-5F60-458C-81BA-FBFE6B4F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581400"/>
            <a:ext cx="209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99F4229-D287-4A5F-A097-91B943B4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2095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7E59C5-15DC-4E74-AA82-425F6AD7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57550"/>
            <a:ext cx="2095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FCED208-DDC9-4164-9E54-90A140B4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209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E6667C7-AF2B-412E-AFAA-7296423F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200400"/>
            <a:ext cx="2095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9AA26C-F4C6-408C-86DE-B708D35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38450"/>
            <a:ext cx="2095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9D62923-1251-4945-8E7C-88689E9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09900"/>
            <a:ext cx="209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41F5E0-6CA5-4AE5-BEA0-C46602EC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2095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CE99D5C-DF4C-4F7D-A286-38A474D4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276600"/>
            <a:ext cx="2095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C20218E-AE67-4CE2-98FC-C7642492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481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3A68C5C-00E5-4514-8B48-A701E327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148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E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115377-3F79-4A2D-AE1B-02BFD071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6247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заказ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1B9B19-A40D-4F62-8BF5-7F742E7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55889B5-A430-4294-8C87-BEEC9FD8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62475"/>
            <a:ext cx="59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факт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4C8BB62-84C2-42E2-980D-7E40F14F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34B42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09E36D3-80D8-4986-BC1E-689A4241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62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34B4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34B42"/>
                </a:solidFill>
                <a:latin typeface="Aptos"/>
                <a:ea typeface="Aptos"/>
                <a:cs typeface="Aptos"/>
              </a:rPr>
              <a:t>отвалы 24ч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965C3C-3468-4BD6-A2C1-5E8D9432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96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Клик по дню ведёт к детализации: строкам заказов, фактических смен, свободных позиций и отмен.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7882CA9-CA87-4DC8-B0F2-D6469AE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857D322-023C-48E9-A10A-01C8D885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9D38EDD-7782-45C6-B937-63B27425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046664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C6A1EB-7AA6-4E89-90F6-120111FC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C1485D-0393-45DD-AC2A-953E5A45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29EA05-4A9D-4075-850D-ADA58F02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ДЕТАЛИЗАЦИЯ ДНЯ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083D8-00FC-4D8F-B5A4-EBC7A036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Детализация дня отделяет выполненный факт от свободной строки заказа.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FD49D-3C0C-44D2-87B8-3272DC58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Выполненная строка требует положительного фактического интервала, actual_hours или успешной выплаты. Нулевая confirmed-смена без выплаты остаётся свободным заказом.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244D29-5328-4AF6-BD28-72922D81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096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9AEED2-2C22-4FB1-A52A-E61C5074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4765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58C93-FDA2-4B3C-ABC2-F352A3B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5F4E4E-B828-49BB-912A-E66A224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765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7CD6F-C4EA-4A1E-9081-09EF2567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765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C5045E-B6F4-4134-90AA-4EF93222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476500"/>
            <a:ext cx="9525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18F70-F3AC-439B-B6FB-5C98CF49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B6D215-BAFA-4480-AEBA-5CA9C1C8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Заказ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34895F-5B8D-4E4D-9D84-AB3AB24C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9337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Профессия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F2804-2D8C-4B58-8021-243C5A7C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Исполнитель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2F0697-3F55-4BD1-A029-3806E813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337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Факт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7CBBF-C81E-4F0B-9D82-F5987AC2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33700"/>
            <a:ext cx="1019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Платёж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E6A51-8CAE-41D6-B0A3-50D66D5C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933700"/>
            <a:ext cx="2276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Статус чтения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14A26-E037-4B3F-9D7F-CAE86170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0EEDB-5641-4A0D-9935-54000D72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290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ord_781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24606-357C-4438-8E43-6D2E07F0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290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Комплектовщик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98BCA4-2397-4DAA-81DB-80D21FF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Иван П.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98764-7A4F-444F-BCCE-76E47398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09:02-18:04 / 8.0ч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DB56E-8C2D-4C83-9A77-BF0F516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1019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332D25-B307-4DC9-879B-4B71CB46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29000"/>
            <a:ext cx="2276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выполнено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075A12-2BEA-4A61-928B-D0FD6B04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00EFCB-7FCA-4AAF-8D61-39257F96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ord_782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7ED58C-B1C4-4E91-8CBC-CE11A9D6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924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Кассир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E0D1C6-16AA-4B5B-AC44-172D1ACC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243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A06453-14E8-431F-95BF-A3A9BF37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9243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31B2C1-B056-4D70-B7A8-4696659B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24300"/>
            <a:ext cx="1019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EBDC77-8617-4854-AE56-CFC91F7A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24300"/>
            <a:ext cx="2276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34B4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34B42"/>
                </a:solidFill>
                <a:latin typeface="Aptos"/>
                <a:ea typeface="Aptos"/>
                <a:cs typeface="Aptos"/>
              </a:rPr>
              <a:t>свободно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00F75-EB66-47B9-93A0-84875F5A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D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428267-3D2D-4428-A05C-AFBC2F5E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1047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ord_783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1765B0-51FA-4D74-BC79-92B08511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4196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Грузчик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77C9FF-F912-4413-9AE1-744EF54E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419600"/>
            <a:ext cx="1447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2DEDAF-D0BA-41A2-B1F8-B969D17B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196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9C16D0-07E6-48B5-8909-D1F1A8F0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19600"/>
            <a:ext cx="10191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47C707-CC59-46AF-989B-EEC34756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19600"/>
            <a:ext cx="22764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812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812C"/>
                </a:solidFill>
                <a:latin typeface="Aptos"/>
                <a:ea typeface="Aptos"/>
                <a:cs typeface="Aptos"/>
              </a:rPr>
              <a:t>отмена была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63004D-59DE-4F10-8772-ABBB937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7819E4-A365-4C17-92D2-A5D3960D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29250"/>
            <a:ext cx="1476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AD2DCA-5CF6-4853-A69A-BC01CCA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confirmed/completed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2A2716E-057A-4385-9F3B-CA784DA8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29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1546FE-0A10-4776-9498-9423389E8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B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B9E"/>
                </a:solidFill>
                <a:latin typeface="Aptos"/>
                <a:ea typeface="Aptos"/>
                <a:cs typeface="Aptos"/>
              </a:rPr>
              <a:t>start_fact / finish_fact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25CDE7-4C3E-4EAE-806B-3209D992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4292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6639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83E74F-E4AE-4A5E-A652-8A380ED8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476875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6639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6639B"/>
                </a:solidFill>
                <a:latin typeface="Aptos"/>
                <a:ea typeface="Aptos"/>
                <a:cs typeface="Aptos"/>
              </a:rPr>
              <a:t>payment_status: done, bank_done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CA2C6F-3C04-4A29-9924-A417D7024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467350"/>
            <a:ext cx="34766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Эти признаки помогают не засчитать прогул как выполненную смену.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7382DF2-7A02-466D-9855-3E694368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03E52D7-4158-4815-9C95-4B21343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39FD8F-BEDE-413A-8A1A-7E563418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433536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45C3D3-DBA3-4290-9B4E-75391D5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2EF354-F8E1-40BA-B6BD-C0AE003D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F4BB8EF-7E5D-46D8-B4D9-8259A937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9616D"/>
                </a:solidFill>
                <a:latin typeface="Aptos"/>
                <a:ea typeface="Aptos"/>
                <a:cs typeface="Aptos"/>
              </a:rPr>
              <a:t>КАК ИСПОЛЬЗОВАТЬ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A89D0-2AA9-4FAF-BB99-34D5F1DC5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Рабочий сценарий закрывает путь от очереди риска до управленческого действия.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A86BC-D93C-4999-956D-0D7BF03B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181439-8000-4288-8587-7EB12BB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1FC13-D7DE-412D-8DFF-B8315DCE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Отфильтровать период и сегмент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EF33E-BC53-4AE7-AAAC-51FE67CD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клиент, город, профессия, статус, диапазоны SLA/заказа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38699-5369-41B6-B6C1-A9CE5991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28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500B9A-4120-460A-877B-7AD0AE73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81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D6C6E1-C2A4-4EC0-8FC8-687345C5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409D3-8B40-40AD-986E-C9FC0CF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B7599-A2DC-4128-A494-281526E9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266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Отсортировать точки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7A9E3-4C75-469D-B23E-E29BBAC0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найти высокие объёмы, низкий SLA или нестабильный заказ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DA510-BA68-4802-A77E-F12E1A71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289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799492-7DD6-43FB-B898-712EB3D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5812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FE55D-0135-4BE7-9798-3955F4C7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9550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19050">
            <a:solidFill>
              <a:srgbClr val="B981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E6B9E-3C82-41B7-BD58-D553F7C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9812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B9812C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C4C51-B88D-49ED-B253-520D0C48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66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Открыть «Требуют внимания»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6B91F-04D1-406C-951F-DC86C620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проверить free7d, coverage, активную базу 15 км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D8226-7FF9-4104-AE73-93145A53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86125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01D94D-1E58-4452-A2CB-75590035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5814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85315-3827-4B08-9D50-71998969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A83E99-64A6-4B4D-84A7-A31C193A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065051-DE9D-49FC-9293-D3CEF56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Перейти в карточку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22230-B6DD-4A3A-8AB7-F354C12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910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посмотреть паспорт, дни, профессии и радиусы 5/10/15/20 км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3504F5-52BF-4CC5-9B4E-C8600E6A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159E6B-2AEE-41E9-8E5E-FB500BDD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F074DF-8349-4134-994C-34C8AD8E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14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B2DC4-158C-4CEA-A02F-2863658D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86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ECD12-64A4-4C47-8482-2A5E32A1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Открыть день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8EAC7-61B1-45E6-AD9A-20B74069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41910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разобрать строки заказов, факт, отмены и выплаты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66A8D6-2C2C-485C-AD6B-4608A201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481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5CD192-01E7-4C87-9F44-705B2398A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2005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5C3B2E-47C6-4CDD-B34F-B3FF5D95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30003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6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3BF62-AB19-4D5A-8FD1-EAC7D5B8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86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2F7D5C"/>
                </a:solidFill>
                <a:latin typeface="Aptos Mono"/>
                <a:ea typeface="Aptos Mono"/>
                <a:cs typeface="Aptos Mono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743F42-42FE-47ED-B3C6-8ECCD035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862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4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42A"/>
                </a:solidFill>
                <a:latin typeface="Aptos"/>
                <a:ea typeface="Aptos"/>
                <a:cs typeface="Aptos"/>
              </a:rPr>
              <a:t>Принять действие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9DBA52-CA0B-49EB-B206-A546A1B4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9100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добор базы, ручное закрытие смен, проверка заказов или коммуникация с клиентом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02F462-47A8-4AEE-B3DC-0644F919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103441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6667"/>
            </a:srgbClr>
          </a:solidFill>
          <a:ln xmlns:a="http://schemas.openxmlformats.org/drawingml/2006/main" w="9525">
            <a:solidFill>
              <a:srgbClr val="E8E0D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C73218-F87B-4B05-8199-5F51280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981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Ограничения чтения: активная база не сопоставляется со специальностью заказа в этой итерации; риск — вычисляемая оценка приложения; SQL метрик доступен только пользователям с правом `SQL метрик`.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00214B-E560-4401-9359-D128C442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8FCE05-9B61-469F-B14B-E322F169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1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16D"/>
                </a:solidFill>
                <a:latin typeface="Aptos"/>
                <a:ea typeface="Aptos"/>
                <a:cs typeface="Aptos"/>
              </a:rPr>
              <a:t>Источники: README.md, docs/dashboards/workplace-analysis.md, docs/dashboards/workplace-point.md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19DD16-DDB2-4255-8E50-C2EFED06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34125"/>
            <a:ext cx="685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20242A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67421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2026-06-06T12:41:46.6380000Z</dcterms:created>
  <dcterms:modified xsi:type="dcterms:W3CDTF">2026-06-06T12:41:46.6380000Z</dcterms:modified>
</coreProperties>
</file>